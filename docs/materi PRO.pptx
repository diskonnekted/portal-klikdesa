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0" r:id="rId11"/>
    <p:sldId id="267" r:id="rId12"/>
    <p:sldId id="271" r:id="rId13"/>
    <p:sldId id="269" r:id="rId14"/>
    <p:sldId id="272" r:id="rId15"/>
    <p:sldId id="266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91" autoAdjust="0"/>
  </p:normalViewPr>
  <p:slideViewPr>
    <p:cSldViewPr snapToGrid="0">
      <p:cViewPr varScale="1">
        <p:scale>
          <a:sx n="64" d="100"/>
          <a:sy n="64" d="100"/>
        </p:scale>
        <p:origin x="7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883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77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77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53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67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528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791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86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04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7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71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F496A-4B71-4D7A-BDB5-76F82DC485B0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00CAC7C-EB28-4E22-AA40-90638194EC2C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9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bagasi.banjarnegarakab.go.id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2294-AD51-4BAF-BABA-3DA78413C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4318"/>
            <a:ext cx="9144000" cy="1163637"/>
          </a:xfrm>
        </p:spPr>
        <p:txBody>
          <a:bodyPr>
            <a:normAutofit fontScale="90000"/>
          </a:bodyPr>
          <a:lstStyle/>
          <a:p>
            <a:r>
              <a:rPr lang="en-US" dirty="0"/>
              <a:t>PENYUSUNAN PROPOSAL</a:t>
            </a:r>
            <a:endParaRPr lang="en-ID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5424F-88DA-4719-BFF9-E29E3EB93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72953"/>
            <a:ext cx="9144000" cy="691666"/>
          </a:xfrm>
        </p:spPr>
        <p:txBody>
          <a:bodyPr>
            <a:noAutofit/>
          </a:bodyPr>
          <a:lstStyle/>
          <a:p>
            <a:r>
              <a:rPr lang="en-US" sz="4000" b="1" dirty="0"/>
              <a:t>KOMPETISI INOVASI PELAYANAN PUBLIK (SINOBLIK)</a:t>
            </a:r>
            <a:endParaRPr lang="en-ID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3EF83-7A4C-4FFF-8281-5450F0F7F66A}"/>
              </a:ext>
            </a:extLst>
          </p:cNvPr>
          <p:cNvSpPr txBox="1"/>
          <p:nvPr/>
        </p:nvSpPr>
        <p:spPr>
          <a:xfrm>
            <a:off x="1524000" y="6211669"/>
            <a:ext cx="4860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BAGIAN ORGANISASI SEKRETARIAT DAERAH</a:t>
            </a:r>
          </a:p>
          <a:p>
            <a:r>
              <a:rPr lang="en-US" dirty="0">
                <a:solidFill>
                  <a:schemeClr val="bg1"/>
                </a:solidFill>
              </a:rPr>
              <a:t> KABUPATEN BANJARNEGARA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5546E-5BD1-4564-9CFD-064236E06396}"/>
              </a:ext>
            </a:extLst>
          </p:cNvPr>
          <p:cNvSpPr txBox="1"/>
          <p:nvPr/>
        </p:nvSpPr>
        <p:spPr>
          <a:xfrm>
            <a:off x="7557052" y="3706177"/>
            <a:ext cx="3306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BANJARNEGARA, 25 MEI 2026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77817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FE50-C964-461F-A041-10F42A486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4000" dirty="0"/>
              <a:t>TEMA </a:t>
            </a:r>
            <a:r>
              <a:rPr lang="en-US" sz="4000" dirty="0" err="1"/>
              <a:t>SiNOBLIK</a:t>
            </a:r>
            <a:endParaRPr lang="en-ID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EF0556-5005-4F98-AAF6-9332FDEF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20493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“</a:t>
            </a:r>
            <a:r>
              <a:rPr lang="en-ID" sz="3600" b="1" dirty="0" err="1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Mewujudkan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ID" sz="3600" b="1" dirty="0" err="1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Pelayanan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ID" sz="3600" b="1" dirty="0" err="1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Publik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ID" sz="3600" b="1" dirty="0" err="1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Berdampak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ID" sz="3600" b="1" dirty="0" err="1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untuk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ID" sz="3600" b="1" dirty="0" err="1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Kesejahteraan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 Masyarakat </a:t>
            </a:r>
            <a:r>
              <a:rPr lang="en-ID" sz="3600" b="1" dirty="0" err="1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Menuju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ID" sz="3600" b="1" dirty="0" err="1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Banjarnegara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en-ID" sz="3600" b="1" dirty="0" err="1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Maju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</a:rPr>
              <a:t> dan Sejahtera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”</a:t>
            </a:r>
            <a:endParaRPr lang="en-ID" sz="3600" dirty="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D19F1-0D65-4ECC-BEF1-0FF0AF5A7C2B}"/>
              </a:ext>
            </a:extLst>
          </p:cNvPr>
          <p:cNvSpPr txBox="1"/>
          <p:nvPr/>
        </p:nvSpPr>
        <p:spPr>
          <a:xfrm>
            <a:off x="2226364" y="4283765"/>
            <a:ext cx="80109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Tema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sesuai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Visi</a:t>
            </a:r>
            <a:r>
              <a:rPr lang="en-US" sz="2000" dirty="0"/>
              <a:t> </a:t>
            </a:r>
            <a:r>
              <a:rPr lang="en-US" sz="2000" dirty="0" err="1"/>
              <a:t>Kabupaten</a:t>
            </a:r>
            <a:r>
              <a:rPr lang="en-US" sz="2000" dirty="0"/>
              <a:t> </a:t>
            </a:r>
            <a:r>
              <a:rPr lang="en-US" sz="2000" dirty="0" err="1"/>
              <a:t>Banjarnegara</a:t>
            </a:r>
            <a:r>
              <a:rPr lang="en-US" sz="2000" dirty="0"/>
              <a:t> </a:t>
            </a:r>
            <a:r>
              <a:rPr lang="en-US" sz="2000" dirty="0" err="1"/>
              <a:t>Tahun</a:t>
            </a:r>
            <a:r>
              <a:rPr lang="en-US" sz="2000" dirty="0"/>
              <a:t> 2025- 2029 </a:t>
            </a:r>
            <a:r>
              <a:rPr lang="en-US" sz="2000" dirty="0" err="1"/>
              <a:t>yaitu</a:t>
            </a:r>
            <a:r>
              <a:rPr lang="en-US" sz="2000" dirty="0"/>
              <a:t> </a:t>
            </a:r>
          </a:p>
          <a:p>
            <a:pPr algn="ctr"/>
            <a:r>
              <a:rPr lang="en-US" sz="2000" b="1" dirty="0" err="1"/>
              <a:t>Mewujudkan</a:t>
            </a:r>
            <a:r>
              <a:rPr lang="en-US" sz="2000" b="1" dirty="0"/>
              <a:t> </a:t>
            </a:r>
            <a:r>
              <a:rPr lang="en-US" sz="2000" b="1" dirty="0" err="1"/>
              <a:t>Banjarnegara</a:t>
            </a:r>
            <a:r>
              <a:rPr lang="en-US" sz="2000" b="1" dirty="0"/>
              <a:t> yang  </a:t>
            </a:r>
            <a:r>
              <a:rPr lang="en-US" sz="2000" b="1" dirty="0" err="1"/>
              <a:t>Maju</a:t>
            </a:r>
            <a:r>
              <a:rPr lang="en-US" sz="2000" b="1" dirty="0"/>
              <a:t> dan Sejahtera</a:t>
            </a:r>
            <a:endParaRPr lang="en-ID" sz="2000" b="1" dirty="0"/>
          </a:p>
        </p:txBody>
      </p:sp>
    </p:spTree>
    <p:extLst>
      <p:ext uri="{BB962C8B-B14F-4D97-AF65-F5344CB8AC3E}">
        <p14:creationId xmlns:p14="http://schemas.microsoft.com/office/powerpoint/2010/main" val="1570287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07F2-3E9C-4277-90BA-78AF2E8BF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kriteria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3B5BF-9D0D-4540-B53D-1C2F12545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sz="2200" b="1" dirty="0"/>
              <a:t>MEMILIKI KEBARUAN </a:t>
            </a:r>
            <a:r>
              <a:rPr lang="en-ID" dirty="0" err="1"/>
              <a:t>Memperkenalkan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, </a:t>
            </a: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kebijakan</a:t>
            </a:r>
            <a:r>
              <a:rPr lang="en-ID" dirty="0"/>
              <a:t> dan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pelaksanaan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dan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rangka</a:t>
            </a:r>
            <a:r>
              <a:rPr lang="en-ID" dirty="0"/>
              <a:t> </a:t>
            </a:r>
            <a:r>
              <a:rPr lang="en-ID" dirty="0" err="1"/>
              <a:t>penyelenggaraan</a:t>
            </a:r>
            <a:r>
              <a:rPr lang="en-ID" dirty="0"/>
              <a:t> </a:t>
            </a:r>
            <a:r>
              <a:rPr lang="en-ID" dirty="0" err="1"/>
              <a:t>pelayanan</a:t>
            </a:r>
            <a:r>
              <a:rPr lang="en-ID" dirty="0"/>
              <a:t> </a:t>
            </a:r>
            <a:r>
              <a:rPr lang="en-ID" dirty="0" err="1"/>
              <a:t>publik</a:t>
            </a:r>
            <a:endParaRPr lang="en-ID" dirty="0"/>
          </a:p>
          <a:p>
            <a:r>
              <a:rPr lang="en-ID" sz="2200" b="1" dirty="0"/>
              <a:t>EFEKTIF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yang </a:t>
            </a:r>
            <a:r>
              <a:rPr lang="en-ID" dirty="0" err="1"/>
              <a:t>nyata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penyelenggaraan</a:t>
            </a:r>
            <a:r>
              <a:rPr lang="en-ID" dirty="0"/>
              <a:t> </a:t>
            </a:r>
            <a:r>
              <a:rPr lang="en-ID" dirty="0" err="1"/>
              <a:t>pelayanan</a:t>
            </a:r>
            <a:r>
              <a:rPr lang="en-ID" dirty="0"/>
              <a:t> </a:t>
            </a:r>
            <a:r>
              <a:rPr lang="en-ID" dirty="0" err="1"/>
              <a:t>publik</a:t>
            </a:r>
            <a:endParaRPr lang="en-ID" dirty="0"/>
          </a:p>
          <a:p>
            <a:r>
              <a:rPr lang="en-ID" sz="2200" b="1" dirty="0"/>
              <a:t>BERMANFAAT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peningkatan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 </a:t>
            </a:r>
            <a:r>
              <a:rPr lang="en-ID" dirty="0" err="1"/>
              <a:t>pelayanan</a:t>
            </a:r>
            <a:r>
              <a:rPr lang="en-ID" dirty="0"/>
              <a:t> </a:t>
            </a:r>
            <a:r>
              <a:rPr lang="en-ID" dirty="0" err="1"/>
              <a:t>publik</a:t>
            </a:r>
            <a:endParaRPr lang="en-ID" dirty="0"/>
          </a:p>
          <a:p>
            <a:r>
              <a:rPr lang="en-ID" sz="2200" b="1" dirty="0"/>
              <a:t>MUDAH DISEBARLUASKAN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ditiru</a:t>
            </a:r>
            <a:r>
              <a:rPr lang="en-ID" dirty="0"/>
              <a:t> dan </a:t>
            </a:r>
            <a:r>
              <a:rPr lang="en-ID" dirty="0" err="1"/>
              <a:t>dikembangkan</a:t>
            </a:r>
            <a:r>
              <a:rPr lang="en-ID" dirty="0"/>
              <a:t> oleh </a:t>
            </a:r>
            <a:r>
              <a:rPr lang="en-ID" dirty="0" err="1"/>
              <a:t>penyelenggara</a:t>
            </a:r>
            <a:r>
              <a:rPr lang="en-ID" dirty="0"/>
              <a:t> </a:t>
            </a:r>
            <a:r>
              <a:rPr lang="en-ID" dirty="0" err="1"/>
              <a:t>inovasi</a:t>
            </a:r>
            <a:r>
              <a:rPr lang="en-ID" dirty="0"/>
              <a:t> </a:t>
            </a:r>
            <a:r>
              <a:rPr lang="en-ID" dirty="0" err="1"/>
              <a:t>lainnya</a:t>
            </a:r>
            <a:endParaRPr lang="en-ID" dirty="0"/>
          </a:p>
          <a:p>
            <a:r>
              <a:rPr lang="en-ID" sz="2200" b="1" dirty="0"/>
              <a:t>BERKELANJUTAN</a:t>
            </a:r>
            <a:r>
              <a:rPr lang="en-ID" dirty="0"/>
              <a:t> Terus </a:t>
            </a:r>
            <a:r>
              <a:rPr lang="en-ID" dirty="0" err="1"/>
              <a:t>diterapkan</a:t>
            </a:r>
            <a:r>
              <a:rPr lang="en-ID" dirty="0"/>
              <a:t> dan </a:t>
            </a:r>
            <a:r>
              <a:rPr lang="en-ID" dirty="0" err="1"/>
              <a:t>dikembangkan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berkesinambungan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mendapat</a:t>
            </a:r>
            <a:r>
              <a:rPr lang="en-ID" dirty="0"/>
              <a:t> </a:t>
            </a:r>
            <a:r>
              <a:rPr lang="en-ID" dirty="0" err="1"/>
              <a:t>dukungan</a:t>
            </a:r>
            <a:r>
              <a:rPr lang="en-ID" dirty="0"/>
              <a:t> </a:t>
            </a:r>
            <a:r>
              <a:rPr lang="en-ID" dirty="0" err="1"/>
              <a:t>masyarakat</a:t>
            </a:r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3042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8D20-20B3-4ED4-8835-90E45C44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kategori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8E6AF8-E54E-4C6B-A8C7-4D14960B6F4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162373" y="2019299"/>
            <a:ext cx="3053166" cy="1188849"/>
          </a:xfrm>
        </p:spPr>
        <p:txBody>
          <a:bodyPr/>
          <a:lstStyle/>
          <a:p>
            <a:pPr marL="0" indent="0">
              <a:buNone/>
            </a:pPr>
            <a:r>
              <a:rPr lang="en-ID" dirty="0" err="1"/>
              <a:t>Kesehatan</a:t>
            </a:r>
            <a:r>
              <a:rPr lang="en-ID" dirty="0"/>
              <a:t> (</a:t>
            </a:r>
            <a:r>
              <a:rPr lang="en-ID" dirty="0" err="1"/>
              <a:t>Tematik</a:t>
            </a:r>
            <a:r>
              <a:rPr lang="en-ID" dirty="0"/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8C5BD0-BB46-48FA-AC21-93DB7415F29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162372" y="2940897"/>
            <a:ext cx="3053167" cy="844711"/>
          </a:xfrm>
        </p:spPr>
        <p:txBody>
          <a:bodyPr/>
          <a:lstStyle/>
          <a:p>
            <a:r>
              <a:rPr lang="en-ID" dirty="0"/>
              <a:t>Pendidikan (</a:t>
            </a:r>
            <a:r>
              <a:rPr lang="en-ID" dirty="0" err="1"/>
              <a:t>Tematik</a:t>
            </a:r>
            <a:r>
              <a:rPr lang="en-ID" dirty="0"/>
              <a:t>)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DD8A799-E7DB-4B05-8B1E-365079E39467}"/>
              </a:ext>
            </a:extLst>
          </p:cNvPr>
          <p:cNvSpPr txBox="1">
            <a:spLocks/>
          </p:cNvSpPr>
          <p:nvPr/>
        </p:nvSpPr>
        <p:spPr>
          <a:xfrm>
            <a:off x="1162371" y="4060006"/>
            <a:ext cx="3053167" cy="844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Pertumbuhan</a:t>
            </a:r>
            <a:r>
              <a:rPr lang="en-ID" dirty="0"/>
              <a:t> </a:t>
            </a:r>
            <a:r>
              <a:rPr lang="en-ID" dirty="0" err="1"/>
              <a:t>ekonomi</a:t>
            </a:r>
            <a:r>
              <a:rPr lang="en-ID" dirty="0"/>
              <a:t> dan </a:t>
            </a:r>
            <a:r>
              <a:rPr lang="en-ID" dirty="0" err="1"/>
              <a:t>kesempatan</a:t>
            </a:r>
            <a:r>
              <a:rPr lang="en-ID" dirty="0"/>
              <a:t> </a:t>
            </a:r>
            <a:r>
              <a:rPr lang="en-ID" dirty="0" err="1"/>
              <a:t>kerja</a:t>
            </a:r>
            <a:endParaRPr lang="en-ID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7926ECD-8997-4139-89CB-7218EE03E1DC}"/>
              </a:ext>
            </a:extLst>
          </p:cNvPr>
          <p:cNvSpPr txBox="1">
            <a:spLocks/>
          </p:cNvSpPr>
          <p:nvPr/>
        </p:nvSpPr>
        <p:spPr>
          <a:xfrm>
            <a:off x="1162371" y="4965612"/>
            <a:ext cx="3053167" cy="844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Pengentasan</a:t>
            </a:r>
            <a:r>
              <a:rPr lang="en-ID" dirty="0"/>
              <a:t> </a:t>
            </a:r>
            <a:r>
              <a:rPr lang="en-ID" dirty="0" err="1"/>
              <a:t>kemiskinan</a:t>
            </a:r>
            <a:r>
              <a:rPr lang="en-ID" dirty="0"/>
              <a:t> (</a:t>
            </a:r>
            <a:r>
              <a:rPr lang="en-ID" dirty="0" err="1"/>
              <a:t>Tematik</a:t>
            </a:r>
            <a:r>
              <a:rPr lang="en-ID" dirty="0"/>
              <a:t>)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8703AC2-F30C-4606-91D2-E7D50EA9F874}"/>
              </a:ext>
            </a:extLst>
          </p:cNvPr>
          <p:cNvSpPr txBox="1">
            <a:spLocks/>
          </p:cNvSpPr>
          <p:nvPr/>
        </p:nvSpPr>
        <p:spPr>
          <a:xfrm>
            <a:off x="5284920" y="2019299"/>
            <a:ext cx="3053167" cy="844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Pemberdayaan</a:t>
            </a:r>
            <a:r>
              <a:rPr lang="en-ID" dirty="0"/>
              <a:t> </a:t>
            </a:r>
            <a:r>
              <a:rPr lang="en-ID" dirty="0" err="1"/>
              <a:t>masyarakat</a:t>
            </a:r>
            <a:endParaRPr lang="en-ID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FDFD107-A318-4FDB-A729-7F13BC9971F2}"/>
              </a:ext>
            </a:extLst>
          </p:cNvPr>
          <p:cNvSpPr txBox="1">
            <a:spLocks/>
          </p:cNvSpPr>
          <p:nvPr/>
        </p:nvSpPr>
        <p:spPr>
          <a:xfrm>
            <a:off x="5284920" y="3031437"/>
            <a:ext cx="3053167" cy="844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Energi</a:t>
            </a:r>
            <a:r>
              <a:rPr lang="en-ID" dirty="0"/>
              <a:t> dan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hidup</a:t>
            </a:r>
            <a:endParaRPr lang="en-ID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C2BC365-01FA-4487-ADAA-17E57172B9B0}"/>
              </a:ext>
            </a:extLst>
          </p:cNvPr>
          <p:cNvSpPr txBox="1">
            <a:spLocks/>
          </p:cNvSpPr>
          <p:nvPr/>
        </p:nvSpPr>
        <p:spPr>
          <a:xfrm>
            <a:off x="5284919" y="4043575"/>
            <a:ext cx="3053167" cy="844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/>
              <a:t>Tata </a:t>
            </a:r>
            <a:r>
              <a:rPr lang="en-ID" dirty="0" err="1"/>
              <a:t>kelola</a:t>
            </a:r>
            <a:r>
              <a:rPr lang="en-ID" dirty="0"/>
              <a:t> </a:t>
            </a:r>
            <a:r>
              <a:rPr lang="en-ID" dirty="0" err="1"/>
              <a:t>pemerintahan</a:t>
            </a:r>
            <a:endParaRPr lang="en-ID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81AAA5E8-45CD-4750-B50C-C2A1285B01F2}"/>
              </a:ext>
            </a:extLst>
          </p:cNvPr>
          <p:cNvSpPr txBox="1">
            <a:spLocks/>
          </p:cNvSpPr>
          <p:nvPr/>
        </p:nvSpPr>
        <p:spPr>
          <a:xfrm>
            <a:off x="5284918" y="4896471"/>
            <a:ext cx="3053167" cy="844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Ketahanan</a:t>
            </a:r>
            <a:r>
              <a:rPr lang="en-ID" dirty="0"/>
              <a:t> </a:t>
            </a:r>
            <a:r>
              <a:rPr lang="en-ID" dirty="0" err="1"/>
              <a:t>Pangan</a:t>
            </a:r>
            <a:r>
              <a:rPr lang="en-ID" dirty="0"/>
              <a:t> (</a:t>
            </a:r>
            <a:r>
              <a:rPr lang="en-ID" dirty="0" err="1"/>
              <a:t>tematik</a:t>
            </a:r>
            <a:r>
              <a:rPr lang="en-ID" dirty="0"/>
              <a:t>)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D28D51BC-51B9-42C2-8F25-B8B7A7C5441E}"/>
              </a:ext>
            </a:extLst>
          </p:cNvPr>
          <p:cNvSpPr txBox="1">
            <a:spLocks/>
          </p:cNvSpPr>
          <p:nvPr/>
        </p:nvSpPr>
        <p:spPr>
          <a:xfrm>
            <a:off x="8694545" y="2518541"/>
            <a:ext cx="3053167" cy="844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Ketahanan</a:t>
            </a:r>
            <a:r>
              <a:rPr lang="en-ID" dirty="0"/>
              <a:t> </a:t>
            </a:r>
            <a:r>
              <a:rPr lang="en-ID" dirty="0" err="1"/>
              <a:t>bencana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1059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6886C-AED8-47DC-94E1-A1FBE251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partisipan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C83C4-CE0A-4F7D-822E-C45D55CAB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1413268"/>
          </a:xfrm>
        </p:spPr>
        <p:txBody>
          <a:bodyPr/>
          <a:lstStyle/>
          <a:p>
            <a:r>
              <a:rPr lang="en-ID" dirty="0" err="1"/>
              <a:t>Perangkat</a:t>
            </a:r>
            <a:r>
              <a:rPr lang="en-ID" dirty="0"/>
              <a:t> Daerah di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Pemerintah</a:t>
            </a:r>
            <a:r>
              <a:rPr lang="en-ID" dirty="0"/>
              <a:t> </a:t>
            </a:r>
            <a:r>
              <a:rPr lang="en-ID" dirty="0" err="1"/>
              <a:t>Kabupaten</a:t>
            </a:r>
            <a:r>
              <a:rPr lang="en-ID" dirty="0"/>
              <a:t> </a:t>
            </a:r>
            <a:r>
              <a:rPr lang="en-ID" dirty="0" err="1"/>
              <a:t>Banjarnegara</a:t>
            </a:r>
            <a:endParaRPr lang="en-ID" dirty="0"/>
          </a:p>
          <a:p>
            <a:r>
              <a:rPr lang="en-ID" dirty="0"/>
              <a:t>UOBK/UOBF dan UPTD di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Pemerintah</a:t>
            </a:r>
            <a:r>
              <a:rPr lang="en-ID" dirty="0"/>
              <a:t> </a:t>
            </a:r>
            <a:r>
              <a:rPr lang="en-ID" dirty="0" err="1"/>
              <a:t>Kabupaten</a:t>
            </a:r>
            <a:r>
              <a:rPr lang="en-ID" dirty="0"/>
              <a:t> </a:t>
            </a:r>
            <a:r>
              <a:rPr lang="en-ID" dirty="0" err="1"/>
              <a:t>Banjarnegara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A7143-4B55-41A1-9F2E-A20689FA08F0}"/>
              </a:ext>
            </a:extLst>
          </p:cNvPr>
          <p:cNvSpPr txBox="1"/>
          <p:nvPr/>
        </p:nvSpPr>
        <p:spPr>
          <a:xfrm>
            <a:off x="1580827" y="3429000"/>
            <a:ext cx="9474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AGENCY ONE INOVATION</a:t>
            </a:r>
          </a:p>
          <a:p>
            <a:r>
              <a:rPr lang="en-ID" dirty="0"/>
              <a:t>minimal 1 (</a:t>
            </a:r>
            <a:r>
              <a:rPr lang="en-ID" dirty="0" err="1"/>
              <a:t>satu</a:t>
            </a:r>
            <a:r>
              <a:rPr lang="en-ID" dirty="0"/>
              <a:t>) </a:t>
            </a:r>
            <a:r>
              <a:rPr lang="en-ID" dirty="0" err="1"/>
              <a:t>inovasi</a:t>
            </a:r>
            <a:r>
              <a:rPr lang="en-ID" dirty="0"/>
              <a:t> dan </a:t>
            </a:r>
            <a:r>
              <a:rPr lang="en-ID" dirty="0" err="1"/>
              <a:t>maksimal</a:t>
            </a:r>
            <a:r>
              <a:rPr lang="en-ID" dirty="0"/>
              <a:t> 3 (</a:t>
            </a:r>
            <a:r>
              <a:rPr lang="en-ID" dirty="0" err="1"/>
              <a:t>tiga</a:t>
            </a:r>
            <a:r>
              <a:rPr lang="en-ID" dirty="0"/>
              <a:t>)  </a:t>
            </a:r>
            <a:r>
              <a:rPr lang="en-ID" dirty="0" err="1"/>
              <a:t>inovasi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82618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2DAC-127C-47C0-8BB4-EB52B647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PERSYARATAN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18A2C-3CF2-402D-9534-36E9AB783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437" y="2015732"/>
            <a:ext cx="11484244" cy="4037749"/>
          </a:xfrm>
        </p:spPr>
        <p:txBody>
          <a:bodyPr>
            <a:normAutofit lnSpcReduction="10000"/>
          </a:bodyPr>
          <a:lstStyle/>
          <a:p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Unsur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Lingkup</a:t>
            </a:r>
            <a:r>
              <a:rPr lang="en-ID" dirty="0"/>
              <a:t> </a:t>
            </a:r>
            <a:r>
              <a:rPr lang="en-ID" dirty="0" err="1"/>
              <a:t>Pelayanan</a:t>
            </a:r>
            <a:r>
              <a:rPr lang="en-ID" dirty="0"/>
              <a:t> </a:t>
            </a:r>
            <a:r>
              <a:rPr lang="en-ID" dirty="0" err="1"/>
              <a:t>Publik</a:t>
            </a:r>
            <a:endParaRPr lang="en-ID" dirty="0"/>
          </a:p>
          <a:p>
            <a:r>
              <a:rPr lang="en-ID" dirty="0" err="1"/>
              <a:t>Selaras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Tema</a:t>
            </a:r>
            <a:r>
              <a:rPr lang="en-ID" dirty="0"/>
              <a:t> </a:t>
            </a:r>
            <a:r>
              <a:rPr lang="en-ID" dirty="0" err="1"/>
              <a:t>Inovasi</a:t>
            </a:r>
            <a:r>
              <a:rPr lang="en-ID" dirty="0"/>
              <a:t> </a:t>
            </a:r>
            <a:r>
              <a:rPr lang="en-ID" dirty="0" err="1"/>
              <a:t>Pelayanan</a:t>
            </a:r>
            <a:r>
              <a:rPr lang="en-ID" dirty="0"/>
              <a:t> </a:t>
            </a:r>
            <a:r>
              <a:rPr lang="en-ID" dirty="0" err="1"/>
              <a:t>Publik</a:t>
            </a:r>
            <a:endParaRPr lang="en-ID" dirty="0"/>
          </a:p>
          <a:p>
            <a:r>
              <a:rPr lang="en-ID" dirty="0" err="1"/>
              <a:t>Relevan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kategori</a:t>
            </a:r>
            <a:endParaRPr lang="en-ID" dirty="0"/>
          </a:p>
          <a:p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pernah</a:t>
            </a:r>
            <a:r>
              <a:rPr lang="en-ID" dirty="0"/>
              <a:t> </a:t>
            </a:r>
            <a:r>
              <a:rPr lang="en-ID" dirty="0" err="1"/>
              <a:t>mendapatkan</a:t>
            </a:r>
            <a:r>
              <a:rPr lang="en-ID" dirty="0"/>
              <a:t> </a:t>
            </a:r>
            <a:r>
              <a:rPr lang="en-ID" dirty="0" err="1"/>
              <a:t>penghargaan</a:t>
            </a:r>
            <a:r>
              <a:rPr lang="en-ID" dirty="0"/>
              <a:t> Top 99, Top 40, Top 45, Top 35 dan Top 25 KIPP Tingkat </a:t>
            </a:r>
            <a:r>
              <a:rPr lang="en-ID" dirty="0" err="1"/>
              <a:t>Nasional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2025</a:t>
            </a:r>
          </a:p>
          <a:p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pernah</a:t>
            </a:r>
            <a:r>
              <a:rPr lang="en-ID" dirty="0"/>
              <a:t> </a:t>
            </a:r>
            <a:r>
              <a:rPr lang="en-ID" dirty="0" err="1"/>
              <a:t>mendapatkan</a:t>
            </a:r>
            <a:r>
              <a:rPr lang="en-ID" dirty="0"/>
              <a:t> </a:t>
            </a:r>
            <a:r>
              <a:rPr lang="en-ID" dirty="0" err="1"/>
              <a:t>penghargaan</a:t>
            </a:r>
            <a:r>
              <a:rPr lang="en-ID" dirty="0"/>
              <a:t> TOP 20 dan TOP 10 KIPP, Top 30 dan Top 10 IDEA </a:t>
            </a:r>
            <a:r>
              <a:rPr lang="en-ID" dirty="0" err="1"/>
              <a:t>Provinsi</a:t>
            </a:r>
            <a:r>
              <a:rPr lang="en-ID" dirty="0"/>
              <a:t> </a:t>
            </a:r>
            <a:r>
              <a:rPr lang="en-ID" dirty="0" err="1"/>
              <a:t>Jawa</a:t>
            </a:r>
            <a:r>
              <a:rPr lang="en-ID" dirty="0"/>
              <a:t> Tengah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2026</a:t>
            </a:r>
          </a:p>
          <a:p>
            <a:r>
              <a:rPr lang="en-ID" dirty="0" err="1"/>
              <a:t>Menggunakan</a:t>
            </a:r>
            <a:r>
              <a:rPr lang="en-ID" dirty="0"/>
              <a:t>  </a:t>
            </a:r>
            <a:r>
              <a:rPr lang="en-ID" dirty="0" err="1"/>
              <a:t>judul</a:t>
            </a:r>
            <a:r>
              <a:rPr lang="en-ID" dirty="0"/>
              <a:t>  yang  </a:t>
            </a:r>
            <a:r>
              <a:rPr lang="en-ID" dirty="0" err="1"/>
              <a:t>menggambarkan</a:t>
            </a:r>
            <a:r>
              <a:rPr lang="en-ID" dirty="0"/>
              <a:t>  </a:t>
            </a:r>
            <a:r>
              <a:rPr lang="en-ID" dirty="0" err="1"/>
              <a:t>inovasi</a:t>
            </a:r>
            <a:r>
              <a:rPr lang="en-ID" dirty="0"/>
              <a:t>  </a:t>
            </a:r>
            <a:r>
              <a:rPr lang="en-ID" dirty="0" err="1"/>
              <a:t>dengan</a:t>
            </a:r>
            <a:r>
              <a:rPr lang="en-ID" dirty="0"/>
              <a:t>  </a:t>
            </a:r>
            <a:r>
              <a:rPr lang="en-ID" dirty="0" err="1"/>
              <a:t>memperhatikan</a:t>
            </a:r>
            <a:r>
              <a:rPr lang="en-ID" dirty="0"/>
              <a:t> </a:t>
            </a:r>
            <a:r>
              <a:rPr lang="en-ID" dirty="0" err="1"/>
              <a:t>norma</a:t>
            </a:r>
            <a:r>
              <a:rPr lang="en-ID" dirty="0"/>
              <a:t> dan </a:t>
            </a:r>
            <a:r>
              <a:rPr lang="en-ID" dirty="0" err="1"/>
              <a:t>kepantasan</a:t>
            </a:r>
            <a:endParaRPr lang="en-ID" dirty="0"/>
          </a:p>
          <a:p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diimplementasikan</a:t>
            </a:r>
            <a:r>
              <a:rPr lang="en-ID" dirty="0"/>
              <a:t> minimal  </a:t>
            </a:r>
            <a:r>
              <a:rPr lang="en-ID" dirty="0" err="1"/>
              <a:t>dalam</a:t>
            </a:r>
            <a:r>
              <a:rPr lang="en-ID" dirty="0"/>
              <a:t> 1 (</a:t>
            </a:r>
            <a:r>
              <a:rPr lang="en-ID" dirty="0" err="1"/>
              <a:t>satu</a:t>
            </a:r>
            <a:r>
              <a:rPr lang="en-ID" dirty="0"/>
              <a:t>) </a:t>
            </a:r>
            <a:r>
              <a:rPr lang="en-ID"/>
              <a:t>tahun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6151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A284-51CF-4B60-9371-2743DDA7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SINOBLIK BANJARNEGARA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66CF7-2EFE-45EE-9329-7047B6E63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6000" lvl="0" indent="-306000">
              <a:spcBef>
                <a:spcPts val="0"/>
              </a:spcBef>
              <a:buSzPts val="3312"/>
              <a:buChar char="◼"/>
            </a:pPr>
            <a:r>
              <a:rPr lang="en-US" b="1" dirty="0"/>
              <a:t>Proposal </a:t>
            </a:r>
            <a:r>
              <a:rPr lang="en-US" b="1" dirty="0" err="1"/>
              <a:t>Inovasi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inovasi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format yang </a:t>
            </a:r>
            <a:r>
              <a:rPr lang="en-US" dirty="0" err="1"/>
              <a:t>ditetapkan</a:t>
            </a:r>
            <a:r>
              <a:rPr lang="en-US" dirty="0"/>
              <a:t> oleh </a:t>
            </a:r>
            <a:r>
              <a:rPr lang="en-US" dirty="0" err="1"/>
              <a:t>penyelenggara</a:t>
            </a:r>
            <a:r>
              <a:rPr lang="en-US" dirty="0"/>
              <a:t>. </a:t>
            </a:r>
          </a:p>
          <a:p>
            <a:pPr marL="306000" lvl="0" indent="-306000">
              <a:spcBef>
                <a:spcPts val="1320"/>
              </a:spcBef>
              <a:buSzPts val="3312"/>
              <a:buChar char="◼"/>
            </a:pPr>
            <a:r>
              <a:rPr lang="en-US" dirty="0"/>
              <a:t>Proposal </a:t>
            </a:r>
            <a:r>
              <a:rPr lang="en-US" dirty="0" err="1"/>
              <a:t>inovasi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b="1" dirty="0" err="1"/>
              <a:t>Profil</a:t>
            </a:r>
            <a:r>
              <a:rPr lang="en-US" b="1" dirty="0"/>
              <a:t> </a:t>
            </a:r>
            <a:r>
              <a:rPr lang="en-US" b="1" dirty="0" err="1"/>
              <a:t>Inovasi</a:t>
            </a:r>
            <a:r>
              <a:rPr lang="en-US" b="1" dirty="0"/>
              <a:t> (5 </a:t>
            </a:r>
            <a:r>
              <a:rPr lang="en-US" b="1" dirty="0" err="1"/>
              <a:t>isian</a:t>
            </a:r>
            <a:r>
              <a:rPr lang="en-US" b="1" dirty="0"/>
              <a:t>) dan </a:t>
            </a:r>
            <a:r>
              <a:rPr lang="en-US" b="1" dirty="0" err="1"/>
              <a:t>Substansi</a:t>
            </a:r>
            <a:r>
              <a:rPr lang="en-US" b="1" dirty="0"/>
              <a:t> </a:t>
            </a:r>
            <a:r>
              <a:rPr lang="en-US" b="1" dirty="0" err="1"/>
              <a:t>Inovasi</a:t>
            </a:r>
            <a:r>
              <a:rPr lang="en-US" b="1" dirty="0"/>
              <a:t> (5 </a:t>
            </a:r>
            <a:r>
              <a:rPr lang="en-US" b="1" dirty="0" err="1"/>
              <a:t>aspek</a:t>
            </a:r>
            <a:r>
              <a:rPr lang="en-US" b="1" dirty="0"/>
              <a:t> dan 10 sub </a:t>
            </a:r>
            <a:r>
              <a:rPr lang="en-US" b="1" dirty="0" err="1"/>
              <a:t>aspek</a:t>
            </a:r>
            <a:r>
              <a:rPr lang="en-US" b="1" dirty="0"/>
              <a:t>).</a:t>
            </a:r>
          </a:p>
          <a:p>
            <a:pPr marL="306000" lvl="0" indent="-306000">
              <a:spcBef>
                <a:spcPts val="1320"/>
              </a:spcBef>
              <a:buSzPts val="3312"/>
              <a:buChar char="◼"/>
            </a:pPr>
            <a:r>
              <a:rPr lang="en-US" b="1" dirty="0"/>
              <a:t> </a:t>
            </a:r>
            <a:r>
              <a:rPr lang="en-ID" sz="2400" u="sng" dirty="0">
                <a:hlinkClick r:id="rId2"/>
              </a:rPr>
              <a:t>https://bagasi.banjarnegarakab.go.id</a:t>
            </a:r>
            <a:endParaRPr lang="en-ID" sz="2400" u="sng" dirty="0"/>
          </a:p>
          <a:p>
            <a:pPr marL="0" lvl="0" indent="0">
              <a:spcBef>
                <a:spcPts val="1320"/>
              </a:spcBef>
              <a:buSzPts val="3312"/>
              <a:buNone/>
            </a:pP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00797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EE55-194F-424C-906C-7405D3AA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INOVASI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9F48B0-2CF5-45F2-BA31-9B755CB72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085538"/>
              </p:ext>
            </p:extLst>
          </p:nvPr>
        </p:nvGraphicFramePr>
        <p:xfrm>
          <a:off x="477078" y="2016125"/>
          <a:ext cx="11249273" cy="36779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1654">
                  <a:extLst>
                    <a:ext uri="{9D8B030D-6E8A-4147-A177-3AD203B41FA5}">
                      <a16:colId xmlns:a16="http://schemas.microsoft.com/office/drawing/2014/main" val="611696896"/>
                    </a:ext>
                  </a:extLst>
                </a:gridCol>
                <a:gridCol w="3492539">
                  <a:extLst>
                    <a:ext uri="{9D8B030D-6E8A-4147-A177-3AD203B41FA5}">
                      <a16:colId xmlns:a16="http://schemas.microsoft.com/office/drawing/2014/main" val="4210811201"/>
                    </a:ext>
                  </a:extLst>
                </a:gridCol>
                <a:gridCol w="6985080">
                  <a:extLst>
                    <a:ext uri="{9D8B030D-6E8A-4147-A177-3AD203B41FA5}">
                      <a16:colId xmlns:a16="http://schemas.microsoft.com/office/drawing/2014/main" val="1093978738"/>
                    </a:ext>
                  </a:extLst>
                </a:gridCol>
              </a:tblGrid>
              <a:tr h="373842">
                <a:tc>
                  <a:txBody>
                    <a:bodyPr/>
                    <a:lstStyle/>
                    <a:p>
                      <a:pPr marR="4064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1.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Judul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Inovasi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Tuliskan judul inovasi beserta akronimnya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extLst>
                  <a:ext uri="{0D108BD9-81ED-4DB2-BD59-A6C34878D82A}">
                    <a16:rowId xmlns:a16="http://schemas.microsoft.com/office/drawing/2014/main" val="3148183072"/>
                  </a:ext>
                </a:extLst>
              </a:tr>
              <a:tr h="571396">
                <a:tc>
                  <a:txBody>
                    <a:bodyPr/>
                    <a:lstStyle/>
                    <a:p>
                      <a:pPr marR="4064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2.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Nama </a:t>
                      </a:r>
                      <a:r>
                        <a:rPr lang="en-US" sz="2000" dirty="0" err="1">
                          <a:effectLst/>
                        </a:rPr>
                        <a:t>Instansi</a:t>
                      </a:r>
                      <a:r>
                        <a:rPr lang="en-US" sz="2000" dirty="0">
                          <a:effectLst/>
                        </a:rPr>
                        <a:t>/Unit </a:t>
                      </a:r>
                      <a:r>
                        <a:rPr lang="en-US" sz="2000" dirty="0" err="1">
                          <a:effectLst/>
                        </a:rPr>
                        <a:t>Kerja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Tuliskan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nama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instansi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penyelenggara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inovasi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tanpa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disingkat</a:t>
                      </a:r>
                      <a:r>
                        <a:rPr lang="en-US" sz="2000" dirty="0">
                          <a:effectLst/>
                        </a:rPr>
                        <a:t>.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extLst>
                  <a:ext uri="{0D108BD9-81ED-4DB2-BD59-A6C34878D82A}">
                    <a16:rowId xmlns:a16="http://schemas.microsoft.com/office/drawing/2014/main" val="2104754148"/>
                  </a:ext>
                </a:extLst>
              </a:tr>
              <a:tr h="966502">
                <a:tc>
                  <a:txBody>
                    <a:bodyPr/>
                    <a:lstStyle/>
                    <a:p>
                      <a:pPr marR="4064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3.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Identitas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Inovator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Masukkan </a:t>
                      </a:r>
                      <a:r>
                        <a:rPr lang="en-US" sz="2000" dirty="0" err="1">
                          <a:effectLst/>
                        </a:rPr>
                        <a:t>nama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inovator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Dibuktikan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dengan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surat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pernyataan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identitas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inovator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dengan</a:t>
                      </a:r>
                      <a:r>
                        <a:rPr lang="en-US" sz="2000" dirty="0">
                          <a:effectLst/>
                        </a:rPr>
                        <a:t> format </a:t>
                      </a:r>
                      <a:r>
                        <a:rPr lang="en-US" sz="2000" dirty="0" err="1">
                          <a:effectLst/>
                        </a:rPr>
                        <a:t>terlampir</a:t>
                      </a:r>
                      <a:r>
                        <a:rPr lang="en-US" sz="2000" dirty="0">
                          <a:effectLst/>
                        </a:rPr>
                        <a:t> di </a:t>
                      </a:r>
                      <a:r>
                        <a:rPr lang="en-US" sz="2000" dirty="0" err="1">
                          <a:effectLst/>
                        </a:rPr>
                        <a:t>lampiran</a:t>
                      </a:r>
                      <a:r>
                        <a:rPr lang="en-US" sz="2000" dirty="0">
                          <a:effectLst/>
                        </a:rPr>
                        <a:t> II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extLst>
                  <a:ext uri="{0D108BD9-81ED-4DB2-BD59-A6C34878D82A}">
                    <a16:rowId xmlns:a16="http://schemas.microsoft.com/office/drawing/2014/main" val="170896773"/>
                  </a:ext>
                </a:extLst>
              </a:tr>
              <a:tr h="1164055">
                <a:tc>
                  <a:txBody>
                    <a:bodyPr/>
                    <a:lstStyle/>
                    <a:p>
                      <a:pPr marR="4064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4.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Waktu implemetasi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Tanggal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bulan</a:t>
                      </a:r>
                      <a:r>
                        <a:rPr lang="en-US" sz="2000" dirty="0">
                          <a:effectLst/>
                        </a:rPr>
                        <a:t> dan </a:t>
                      </a:r>
                      <a:r>
                        <a:rPr lang="en-US" sz="2000" dirty="0" err="1">
                          <a:effectLst/>
                        </a:rPr>
                        <a:t>tahun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waktu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implementasi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inovasi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dibuktikan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dengan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surat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penyataan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implementasi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inovasi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dengan</a:t>
                      </a:r>
                      <a:r>
                        <a:rPr lang="en-US" sz="2000" dirty="0">
                          <a:effectLst/>
                        </a:rPr>
                        <a:t> format </a:t>
                      </a:r>
                      <a:r>
                        <a:rPr lang="en-US" sz="2000" dirty="0" err="1">
                          <a:effectLst/>
                        </a:rPr>
                        <a:t>terlampir</a:t>
                      </a:r>
                      <a:r>
                        <a:rPr lang="en-US" sz="2000" dirty="0">
                          <a:effectLst/>
                        </a:rPr>
                        <a:t> di </a:t>
                      </a:r>
                      <a:r>
                        <a:rPr lang="en-US" sz="2000" dirty="0" err="1">
                          <a:effectLst/>
                        </a:rPr>
                        <a:t>lampiran</a:t>
                      </a:r>
                      <a:r>
                        <a:rPr lang="en-US" sz="2000" dirty="0">
                          <a:effectLst/>
                        </a:rPr>
                        <a:t> III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extLst>
                  <a:ext uri="{0D108BD9-81ED-4DB2-BD59-A6C34878D82A}">
                    <a16:rowId xmlns:a16="http://schemas.microsoft.com/office/drawing/2014/main" val="2717415484"/>
                  </a:ext>
                </a:extLst>
              </a:tr>
              <a:tr h="373842">
                <a:tc>
                  <a:txBody>
                    <a:bodyPr/>
                    <a:lstStyle/>
                    <a:p>
                      <a:pPr marR="4064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5.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Kategori Inovasi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Pilih</a:t>
                      </a:r>
                      <a:r>
                        <a:rPr lang="en-US" sz="2000" dirty="0">
                          <a:effectLst/>
                        </a:rPr>
                        <a:t> salah </a:t>
                      </a:r>
                      <a:r>
                        <a:rPr lang="en-US" sz="2000" dirty="0" err="1">
                          <a:effectLst/>
                        </a:rPr>
                        <a:t>satu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dari</a:t>
                      </a:r>
                      <a:r>
                        <a:rPr lang="en-US" sz="2000" dirty="0">
                          <a:effectLst/>
                        </a:rPr>
                        <a:t> 8 </a:t>
                      </a:r>
                      <a:r>
                        <a:rPr lang="en-US" sz="2000" dirty="0" err="1">
                          <a:effectLst/>
                        </a:rPr>
                        <a:t>kategori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inovasi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388" marR="49388" marT="0" marB="0"/>
                </a:tc>
                <a:extLst>
                  <a:ext uri="{0D108BD9-81ED-4DB2-BD59-A6C34878D82A}">
                    <a16:rowId xmlns:a16="http://schemas.microsoft.com/office/drawing/2014/main" val="948725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23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BC3994-748C-4792-A292-AD0D7C3F3BAE}"/>
              </a:ext>
            </a:extLst>
          </p:cNvPr>
          <p:cNvSpPr txBox="1"/>
          <p:nvPr/>
        </p:nvSpPr>
        <p:spPr>
          <a:xfrm>
            <a:off x="433953" y="216976"/>
            <a:ext cx="779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Substansi</a:t>
            </a:r>
            <a:r>
              <a:rPr lang="en-US" dirty="0"/>
              <a:t> proposal dan </a:t>
            </a:r>
            <a:r>
              <a:rPr lang="en-US" dirty="0" err="1"/>
              <a:t>aspek</a:t>
            </a:r>
            <a:r>
              <a:rPr lang="en-US" dirty="0"/>
              <a:t> </a:t>
            </a:r>
            <a:r>
              <a:rPr lang="en-US" dirty="0" err="1"/>
              <a:t>penilaian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CE8CAE-9CAC-4795-9690-AC3C4EFCE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917235"/>
              </p:ext>
            </p:extLst>
          </p:nvPr>
        </p:nvGraphicFramePr>
        <p:xfrm>
          <a:off x="574157" y="669606"/>
          <a:ext cx="11043685" cy="5518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52">
                  <a:extLst>
                    <a:ext uri="{9D8B030D-6E8A-4147-A177-3AD203B41FA5}">
                      <a16:colId xmlns:a16="http://schemas.microsoft.com/office/drawing/2014/main" val="3492559139"/>
                    </a:ext>
                  </a:extLst>
                </a:gridCol>
                <a:gridCol w="2219896">
                  <a:extLst>
                    <a:ext uri="{9D8B030D-6E8A-4147-A177-3AD203B41FA5}">
                      <a16:colId xmlns:a16="http://schemas.microsoft.com/office/drawing/2014/main" val="604695611"/>
                    </a:ext>
                  </a:extLst>
                </a:gridCol>
                <a:gridCol w="2640348">
                  <a:extLst>
                    <a:ext uri="{9D8B030D-6E8A-4147-A177-3AD203B41FA5}">
                      <a16:colId xmlns:a16="http://schemas.microsoft.com/office/drawing/2014/main" val="1787853824"/>
                    </a:ext>
                  </a:extLst>
                </a:gridCol>
                <a:gridCol w="5465689">
                  <a:extLst>
                    <a:ext uri="{9D8B030D-6E8A-4147-A177-3AD203B41FA5}">
                      <a16:colId xmlns:a16="http://schemas.microsoft.com/office/drawing/2014/main" val="3336902769"/>
                    </a:ext>
                  </a:extLst>
                </a:gridCol>
              </a:tblGrid>
              <a:tr h="360236"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Aspek</a:t>
                      </a:r>
                      <a:r>
                        <a:rPr lang="en-ID" sz="1800" b="1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Bobot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Sub-aspek dan Bobot</a:t>
                      </a: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Deskripsi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8972669"/>
                  </a:ext>
                </a:extLst>
              </a:tr>
              <a:tr h="1551916">
                <a:tc>
                  <a:txBody>
                    <a:bodyPr/>
                    <a:lstStyle/>
                    <a:p>
                      <a:endParaRPr lang="en-ID" sz="18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Ringkasan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(0%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secara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ringkas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terkait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meliputi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permasalahan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implementasi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dampak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 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300 kata)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Keterangan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wajib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disusun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meskipun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tanpa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bobot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nilai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693151"/>
                  </a:ext>
                </a:extLst>
              </a:tr>
              <a:tr h="195163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1.</a:t>
                      </a:r>
                      <a:endParaRPr lang="en-ID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Kebaruan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(14%)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Latar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Belakang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(19%)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masalah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kondisi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menjadi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latar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belakang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lahirnya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rumusan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masalah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menggambarkan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kondisi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awal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sebelum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implementasi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kelompok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sasaran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masyarakat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terdampak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permasalahan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disertai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data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pendukung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 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200 kata)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2684549"/>
                  </a:ext>
                </a:extLst>
              </a:tr>
              <a:tr h="1152202">
                <a:tc>
                  <a:txBody>
                    <a:bodyPr/>
                    <a:lstStyle/>
                    <a:p>
                      <a:endParaRPr lang="en-ID" sz="18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18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Tujuan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(23%)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tujuan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outcome dan output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diharapkan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tercapai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melalui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penerapan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Penjelasan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disertai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target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terukur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 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150 kata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3067551"/>
                  </a:ext>
                </a:extLst>
              </a:tr>
              <a:tr h="360236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41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66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BC3994-748C-4792-A292-AD0D7C3F3BAE}"/>
              </a:ext>
            </a:extLst>
          </p:cNvPr>
          <p:cNvSpPr txBox="1"/>
          <p:nvPr/>
        </p:nvSpPr>
        <p:spPr>
          <a:xfrm>
            <a:off x="433953" y="216976"/>
            <a:ext cx="779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Substansi</a:t>
            </a:r>
            <a:r>
              <a:rPr lang="en-US" dirty="0"/>
              <a:t> proposal dan </a:t>
            </a:r>
            <a:r>
              <a:rPr lang="en-US" dirty="0" err="1"/>
              <a:t>aspek</a:t>
            </a:r>
            <a:r>
              <a:rPr lang="en-US" dirty="0"/>
              <a:t> </a:t>
            </a:r>
            <a:r>
              <a:rPr lang="en-US" dirty="0" err="1"/>
              <a:t>penilaian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CE8CAE-9CAC-4795-9690-AC3C4EFCE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378177"/>
              </p:ext>
            </p:extLst>
          </p:nvPr>
        </p:nvGraphicFramePr>
        <p:xfrm>
          <a:off x="575159" y="766161"/>
          <a:ext cx="11043684" cy="5171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299">
                  <a:extLst>
                    <a:ext uri="{9D8B030D-6E8A-4147-A177-3AD203B41FA5}">
                      <a16:colId xmlns:a16="http://schemas.microsoft.com/office/drawing/2014/main" val="3492559139"/>
                    </a:ext>
                  </a:extLst>
                </a:gridCol>
                <a:gridCol w="2199715">
                  <a:extLst>
                    <a:ext uri="{9D8B030D-6E8A-4147-A177-3AD203B41FA5}">
                      <a16:colId xmlns:a16="http://schemas.microsoft.com/office/drawing/2014/main" val="604695611"/>
                    </a:ext>
                  </a:extLst>
                </a:gridCol>
                <a:gridCol w="2583151">
                  <a:extLst>
                    <a:ext uri="{9D8B030D-6E8A-4147-A177-3AD203B41FA5}">
                      <a16:colId xmlns:a16="http://schemas.microsoft.com/office/drawing/2014/main" val="1787853824"/>
                    </a:ext>
                  </a:extLst>
                </a:gridCol>
                <a:gridCol w="5593519">
                  <a:extLst>
                    <a:ext uri="{9D8B030D-6E8A-4147-A177-3AD203B41FA5}">
                      <a16:colId xmlns:a16="http://schemas.microsoft.com/office/drawing/2014/main" val="3336902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Aspek dan Bobot</a:t>
                      </a: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Sub-aspek dan Bobot</a:t>
                      </a: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Deskripsi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897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sz="18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Cara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Kerja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(30%)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cara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kerja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tahapan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implementasi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sehingga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dapat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mencapai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tujuan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diharapkan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4064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Lengkapi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uraian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tersebut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atas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melampirkan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data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pendukung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relevan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200 kata)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38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sz="18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18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Keunggulan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10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Gagasan</a:t>
                      </a:r>
                      <a:r>
                        <a:rPr lang="en-ID" sz="1800" spc="-1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/Ide (28%)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0" lvl="2" indent="-2286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Jelaskan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ide/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gagasan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keunggulan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keunikan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nilai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tambah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kebaruan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)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dari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ini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ID" sz="1800" dirty="0"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  <a:p>
                      <a:pPr marL="1143000" lvl="2" indent="-2286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Lengkapi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uraian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tersebut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di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atas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melampirkan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data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pendukung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relevan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ID" sz="1800" dirty="0"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  <a:p>
                      <a:pPr marL="203835" marR="40640" indent="-17970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200 kata.</a:t>
                      </a:r>
                      <a:r>
                        <a:rPr lang="en-ID" sz="180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9189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41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53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BC3994-748C-4792-A292-AD0D7C3F3BAE}"/>
              </a:ext>
            </a:extLst>
          </p:cNvPr>
          <p:cNvSpPr txBox="1"/>
          <p:nvPr/>
        </p:nvSpPr>
        <p:spPr>
          <a:xfrm>
            <a:off x="453832" y="87767"/>
            <a:ext cx="779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Lanjut</a:t>
            </a:r>
            <a:r>
              <a:rPr lang="en-US" dirty="0"/>
              <a:t> ….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CE8CAE-9CAC-4795-9690-AC3C4EFCE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602830"/>
              </p:ext>
            </p:extLst>
          </p:nvPr>
        </p:nvGraphicFramePr>
        <p:xfrm>
          <a:off x="112069" y="447059"/>
          <a:ext cx="11904338" cy="6174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163">
                  <a:extLst>
                    <a:ext uri="{9D8B030D-6E8A-4147-A177-3AD203B41FA5}">
                      <a16:colId xmlns:a16="http://schemas.microsoft.com/office/drawing/2014/main" val="3492559139"/>
                    </a:ext>
                  </a:extLst>
                </a:gridCol>
                <a:gridCol w="2157523">
                  <a:extLst>
                    <a:ext uri="{9D8B030D-6E8A-4147-A177-3AD203B41FA5}">
                      <a16:colId xmlns:a16="http://schemas.microsoft.com/office/drawing/2014/main" val="604695611"/>
                    </a:ext>
                  </a:extLst>
                </a:gridCol>
                <a:gridCol w="2595135">
                  <a:extLst>
                    <a:ext uri="{9D8B030D-6E8A-4147-A177-3AD203B41FA5}">
                      <a16:colId xmlns:a16="http://schemas.microsoft.com/office/drawing/2014/main" val="1787853824"/>
                    </a:ext>
                  </a:extLst>
                </a:gridCol>
                <a:gridCol w="6584517">
                  <a:extLst>
                    <a:ext uri="{9D8B030D-6E8A-4147-A177-3AD203B41FA5}">
                      <a16:colId xmlns:a16="http://schemas.microsoft.com/office/drawing/2014/main" val="3336902769"/>
                    </a:ext>
                  </a:extLst>
                </a:gridCol>
              </a:tblGrid>
              <a:tr h="551195"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Aspek</a:t>
                      </a:r>
                      <a:r>
                        <a:rPr lang="en-ID" sz="1800" b="1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Bobot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Sub-aspek dan Bobot</a:t>
                      </a: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Deskripsi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897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064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Efektivitas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Manfaat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(52%)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Mekanisme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Monitoring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Evaluasi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(31%)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4064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 instrumen monitoring dan evaluasi yang digunakan untuk mengukur dampak mencakup komponen cara, periode dan siapa yang melakukan. </a:t>
                      </a:r>
                      <a:endParaRPr lang="en-ID" sz="180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4064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 indikator dan relevansinya untuk melakukan monitoring dan evaluasi. (Maksimal 150 kata)</a:t>
                      </a:r>
                      <a:endParaRPr lang="en-ID" sz="180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69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Dampak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(69%)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Uraikan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dampak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bandingkan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kondisi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sebelum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sesudah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diimplementasikan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).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metode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digunakan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mengukur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dampak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Lengkapi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uraian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tersebut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melampirkan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data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dukung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berupa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laporan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hasil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evaluasi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baik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dari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eksternal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maupun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internal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memuat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data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sebelum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sesudah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implementasi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kualitatif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kuantitatif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).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667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300 kata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268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41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48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BC3994-748C-4792-A292-AD0D7C3F3BAE}"/>
              </a:ext>
            </a:extLst>
          </p:cNvPr>
          <p:cNvSpPr txBox="1"/>
          <p:nvPr/>
        </p:nvSpPr>
        <p:spPr>
          <a:xfrm>
            <a:off x="453832" y="87767"/>
            <a:ext cx="779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Lanjut</a:t>
            </a:r>
            <a:r>
              <a:rPr lang="en-US" dirty="0"/>
              <a:t> ….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CE8CAE-9CAC-4795-9690-AC3C4EFCE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122262"/>
              </p:ext>
            </p:extLst>
          </p:nvPr>
        </p:nvGraphicFramePr>
        <p:xfrm>
          <a:off x="112069" y="447059"/>
          <a:ext cx="11904338" cy="623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163">
                  <a:extLst>
                    <a:ext uri="{9D8B030D-6E8A-4147-A177-3AD203B41FA5}">
                      <a16:colId xmlns:a16="http://schemas.microsoft.com/office/drawing/2014/main" val="3492559139"/>
                    </a:ext>
                  </a:extLst>
                </a:gridCol>
                <a:gridCol w="1875125">
                  <a:extLst>
                    <a:ext uri="{9D8B030D-6E8A-4147-A177-3AD203B41FA5}">
                      <a16:colId xmlns:a16="http://schemas.microsoft.com/office/drawing/2014/main" val="604695611"/>
                    </a:ext>
                  </a:extLst>
                </a:gridCol>
                <a:gridCol w="2027582">
                  <a:extLst>
                    <a:ext uri="{9D8B030D-6E8A-4147-A177-3AD203B41FA5}">
                      <a16:colId xmlns:a16="http://schemas.microsoft.com/office/drawing/2014/main" val="1787853824"/>
                    </a:ext>
                  </a:extLst>
                </a:gridCol>
                <a:gridCol w="7434468">
                  <a:extLst>
                    <a:ext uri="{9D8B030D-6E8A-4147-A177-3AD203B41FA5}">
                      <a16:colId xmlns:a16="http://schemas.microsoft.com/office/drawing/2014/main" val="3336902769"/>
                    </a:ext>
                  </a:extLst>
                </a:gridCol>
              </a:tblGrid>
              <a:tr h="551195"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Aspek</a:t>
                      </a:r>
                      <a:r>
                        <a:rPr lang="en-ID" sz="1800" b="1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Bobot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Sub-aspek dan Bobot</a:t>
                      </a: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Deskripsi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897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064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Adaptabilitas</a:t>
                      </a:r>
                      <a:r>
                        <a:rPr lang="en-ID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(17%) </a:t>
                      </a:r>
                    </a:p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Replikasi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Apakakah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sudah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direplikasi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?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Sudah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Belum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Jika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sudah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sebutkan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UPP dan/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atau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Instansi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sudah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mereplikasi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potensi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direplikasi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menggambarkan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luasan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populasi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kesamaan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karakter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maasalah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dialami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atau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ada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pada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daerah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lain.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06375" marR="40640" indent="-2063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150 kata.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69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Difusi</a:t>
                      </a: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upaya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difusi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penyebarluasan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telah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dilakukan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agar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terjadi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transfer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pengetahuan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penyebarluasan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dampak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baik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lingkup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internal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atau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eksternal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instansi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mencakup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4064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Publikasi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4064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Transfer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pengetahuan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pembelajaran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4064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Replikasi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pada unit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kerja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instansi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lain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atau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scaling up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150 kata)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268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41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598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BC3994-748C-4792-A292-AD0D7C3F3BAE}"/>
              </a:ext>
            </a:extLst>
          </p:cNvPr>
          <p:cNvSpPr txBox="1"/>
          <p:nvPr/>
        </p:nvSpPr>
        <p:spPr>
          <a:xfrm>
            <a:off x="433953" y="216976"/>
            <a:ext cx="779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Lanjut</a:t>
            </a:r>
            <a:r>
              <a:rPr lang="en-US" dirty="0"/>
              <a:t> ….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CE8CAE-9CAC-4795-9690-AC3C4EFCE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950615"/>
              </p:ext>
            </p:extLst>
          </p:nvPr>
        </p:nvGraphicFramePr>
        <p:xfrm>
          <a:off x="575159" y="766161"/>
          <a:ext cx="10878086" cy="5399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378">
                  <a:extLst>
                    <a:ext uri="{9D8B030D-6E8A-4147-A177-3AD203B41FA5}">
                      <a16:colId xmlns:a16="http://schemas.microsoft.com/office/drawing/2014/main" val="3492559139"/>
                    </a:ext>
                  </a:extLst>
                </a:gridCol>
                <a:gridCol w="2177923">
                  <a:extLst>
                    <a:ext uri="{9D8B030D-6E8A-4147-A177-3AD203B41FA5}">
                      <a16:colId xmlns:a16="http://schemas.microsoft.com/office/drawing/2014/main" val="604695611"/>
                    </a:ext>
                  </a:extLst>
                </a:gridCol>
                <a:gridCol w="2489053">
                  <a:extLst>
                    <a:ext uri="{9D8B030D-6E8A-4147-A177-3AD203B41FA5}">
                      <a16:colId xmlns:a16="http://schemas.microsoft.com/office/drawing/2014/main" val="1787853824"/>
                    </a:ext>
                  </a:extLst>
                </a:gridCol>
                <a:gridCol w="5383732">
                  <a:extLst>
                    <a:ext uri="{9D8B030D-6E8A-4147-A177-3AD203B41FA5}">
                      <a16:colId xmlns:a16="http://schemas.microsoft.com/office/drawing/2014/main" val="3336902769"/>
                    </a:ext>
                  </a:extLst>
                </a:gridCol>
              </a:tblGrid>
              <a:tr h="551195"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Aspek</a:t>
                      </a:r>
                      <a:r>
                        <a:rPr lang="en-ID" sz="1800" b="1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Bobot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Sub-aspek dan Bobot</a:t>
                      </a: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Deskripsi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897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064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Keberlanjutan</a:t>
                      </a:r>
                      <a:r>
                        <a:rPr lang="en-ID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(17%)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ID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Daya</a:t>
                      </a:r>
                      <a:r>
                        <a:rPr lang="en-ID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(42%)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ketersediaan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serta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bagaimana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daya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digunakan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secara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efektif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efisien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implementasi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mencakup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: </a:t>
                      </a:r>
                    </a:p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1)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Sarana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prasarana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2)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daya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informasi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(data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diperlukan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untuk</a:t>
                      </a:r>
                      <a:endParaRPr lang="en-ID" sz="1800" spc="-5" dirty="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menjalankan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3)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daya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manusia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jumlah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kompetensi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4)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daya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anggaran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eriod" startAt="2"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Lengkapi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uraian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tersebut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atas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melampirkan</a:t>
                      </a:r>
                      <a:endParaRPr lang="en-ID" sz="1800" spc="-5" dirty="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data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pendukung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relevan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250 kata.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3067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41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464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BC3994-748C-4792-A292-AD0D7C3F3BAE}"/>
              </a:ext>
            </a:extLst>
          </p:cNvPr>
          <p:cNvSpPr txBox="1"/>
          <p:nvPr/>
        </p:nvSpPr>
        <p:spPr>
          <a:xfrm>
            <a:off x="463771" y="0"/>
            <a:ext cx="779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Lanjut</a:t>
            </a:r>
            <a:r>
              <a:rPr lang="en-US" dirty="0"/>
              <a:t> ….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CE8CAE-9CAC-4795-9690-AC3C4EFCE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123967"/>
              </p:ext>
            </p:extLst>
          </p:nvPr>
        </p:nvGraphicFramePr>
        <p:xfrm>
          <a:off x="246165" y="369332"/>
          <a:ext cx="11699669" cy="6319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268">
                  <a:extLst>
                    <a:ext uri="{9D8B030D-6E8A-4147-A177-3AD203B41FA5}">
                      <a16:colId xmlns:a16="http://schemas.microsoft.com/office/drawing/2014/main" val="3492559139"/>
                    </a:ext>
                  </a:extLst>
                </a:gridCol>
                <a:gridCol w="1441174">
                  <a:extLst>
                    <a:ext uri="{9D8B030D-6E8A-4147-A177-3AD203B41FA5}">
                      <a16:colId xmlns:a16="http://schemas.microsoft.com/office/drawing/2014/main" val="604695611"/>
                    </a:ext>
                  </a:extLst>
                </a:gridCol>
                <a:gridCol w="2136913">
                  <a:extLst>
                    <a:ext uri="{9D8B030D-6E8A-4147-A177-3AD203B41FA5}">
                      <a16:colId xmlns:a16="http://schemas.microsoft.com/office/drawing/2014/main" val="1787853824"/>
                    </a:ext>
                  </a:extLst>
                </a:gridCol>
                <a:gridCol w="7623314">
                  <a:extLst>
                    <a:ext uri="{9D8B030D-6E8A-4147-A177-3AD203B41FA5}">
                      <a16:colId xmlns:a16="http://schemas.microsoft.com/office/drawing/2014/main" val="3336902769"/>
                    </a:ext>
                  </a:extLst>
                </a:gridCol>
              </a:tblGrid>
              <a:tr h="589427"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Aspek</a:t>
                      </a:r>
                      <a:r>
                        <a:rPr lang="en-ID" sz="1800" b="1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Bobot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Sub-aspek dan Bobot</a:t>
                      </a:r>
                      <a:endParaRPr lang="en-ID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D" sz="1800" b="1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Deskripsi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8972669"/>
                  </a:ext>
                </a:extLst>
              </a:tr>
              <a:tr h="5550533"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4064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Strategi</a:t>
                      </a:r>
                      <a:r>
                        <a:rPr lang="en-ID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Keberlanjutan</a:t>
                      </a:r>
                      <a:r>
                        <a:rPr lang="en-ID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(58%)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eriod"/>
                        <a:tabLst/>
                        <a:defRPr/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Jelaskan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upaya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dilakukan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menjaga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keberlanjutan</a:t>
                      </a:r>
                      <a:endParaRPr lang="en-ID" sz="1800" spc="-5" dirty="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suatu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mencakup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: </a:t>
                      </a: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1)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Strategi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institusional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berupa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kebijakan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regulasi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menjadi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dasar</a:t>
                      </a:r>
                      <a:endParaRPr lang="en-ID" sz="1800" spc="-5" dirty="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implementasi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dan/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atau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dukungan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implementasi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dalam</a:t>
                      </a:r>
                      <a:endParaRPr lang="en-ID" sz="1800" spc="-5" dirty="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dokumen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perencanaan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organisasi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(unit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kerja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ataupun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instansi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2)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Strategi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manajerial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berupa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peningkatan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kapasitas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daya</a:t>
                      </a:r>
                      <a:endParaRPr lang="en-ID" sz="1800" spc="-5" dirty="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manusia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pelaksana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transfer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pengetahuan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SOP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inovasi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    maintenance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daya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fisik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keberlanjutan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dukungan</a:t>
                      </a:r>
                      <a:endParaRPr lang="en-ID" sz="1800" spc="-5" dirty="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anggaran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3)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Strategi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sosial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berupa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kolaborasi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bersama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pemangku</a:t>
                      </a:r>
                      <a:endParaRPr lang="en-ID" sz="1800" spc="-5" dirty="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     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kepentingan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perannya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 (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300 kata)</a:t>
                      </a:r>
                      <a:endParaRPr lang="en-ID" sz="1800" spc="0" dirty="0">
                        <a:effectLst/>
                        <a:latin typeface="+mn-lt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0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b.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Lengkapi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uraian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tersebut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atas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melampirkan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data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pendukung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yang</a:t>
                      </a:r>
                    </a:p>
                    <a:p>
                      <a:pPr marL="0" lvl="0"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relevan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spc="-5" dirty="0" err="1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Maksimal</a:t>
                      </a:r>
                      <a:r>
                        <a:rPr lang="en-ID" sz="1800" spc="-5" dirty="0">
                          <a:effectLst/>
                          <a:latin typeface="+mn-lt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300 kata</a:t>
                      </a:r>
                      <a:endParaRPr lang="en-ID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38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675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E4FFFBA6-6730-4CA1-8169-3D30C51E39A6}"/>
              </a:ext>
            </a:extLst>
          </p:cNvPr>
          <p:cNvSpPr txBox="1"/>
          <p:nvPr/>
        </p:nvSpPr>
        <p:spPr>
          <a:xfrm>
            <a:off x="228738" y="139148"/>
            <a:ext cx="5818809" cy="6450494"/>
          </a:xfrm>
          <a:prstGeom prst="rect">
            <a:avLst/>
          </a:prstGeom>
          <a:solidFill>
            <a:schemeClr val="lt1"/>
          </a:solidFill>
          <a:ln w="19050"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KOP SURAT DINAS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(LOGO, NAMA INSTANSI DAN ALAMAT) 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SURAT PERNYATAAN IMPLEMENTASI INOVASI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Nomor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: …………………………………………..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Yang 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bertanda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tangan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bawah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Nama            :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NIP/NRP*     :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Jabatan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   :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Nama UPP    :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menyatakan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inovasi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……….. (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judul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inovasi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merupakan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inovasi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milik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…………. (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nama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OPP dan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instansi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yang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diimplementasikan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sejak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tanggal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………….. (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tanggal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bulan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tahun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implementasi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inovasi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Demikian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surat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pernyataan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dibuat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persyaratan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mengikuti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Kompetisi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Inovasi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Pelayanan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Publik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Lingkungan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Kementerian/Lembaga,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Pemerintah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Daerah, BUMN, dan BUMD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Tahun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2025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Berdasarkan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Efisiensi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Anggaran</a:t>
            </a:r>
            <a:r>
              <a:rPr lang="en-ID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4003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400300" algn="just">
              <a:lnSpc>
                <a:spcPct val="150000"/>
              </a:lnSpc>
              <a:spcAft>
                <a:spcPts val="0"/>
              </a:spcAft>
            </a:pP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(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tempat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), (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tanggal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bulan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tahun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jabatan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(Nama)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NIP/NRP* :…………………………</a:t>
            </a:r>
            <a:endParaRPr lang="en-ID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018C176D-255D-43ED-82B7-D6B38DED6D9E}"/>
              </a:ext>
            </a:extLst>
          </p:cNvPr>
          <p:cNvSpPr txBox="1"/>
          <p:nvPr/>
        </p:nvSpPr>
        <p:spPr>
          <a:xfrm>
            <a:off x="6430617" y="139149"/>
            <a:ext cx="5532645" cy="6450494"/>
          </a:xfrm>
          <a:prstGeom prst="rect">
            <a:avLst/>
          </a:prstGeom>
          <a:solidFill>
            <a:schemeClr val="lt1"/>
          </a:solidFill>
          <a:ln w="190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KOP SURAT DINAS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(LOGO, NAMA INSTANSI DAN ALAMAT)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SURAT PERNYATAAN IDENTITAS INOVATOR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Nomor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: …………………………………………..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Yang 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bertanda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tangan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di 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bawah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ini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: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Nama            :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NIP/NRP*     :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Jabatan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        :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Nama UPP    :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Dengan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ini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menyatakan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bahwa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: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Nama            :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NIP/NRP*     :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Jabatan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        :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Nama UPP    :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Merupakan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inovator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dari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inovasi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…………. (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judul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inovasi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) pada…………. (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nama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UPP dan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instansi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).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Demikian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surat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pernyataan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ini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dibuat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sebagai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persyaratan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mengikuti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Kompetisi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Inovasi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Pelayanan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Publik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di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Lingkungan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Kementerian/Lembaga,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Pemerintah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Daerah, BUMN, dan BUMD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Tahun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2025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Berdasarkan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Efisiensi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Anggaran</a:t>
            </a: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tempat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), (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tanggal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bulan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tahun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jabatan</a:t>
            </a: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),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(Nama)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NIP/NRP* :…………………………</a:t>
            </a:r>
            <a:endParaRPr lang="en-ID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743200">
              <a:lnSpc>
                <a:spcPct val="107000"/>
              </a:lnSpc>
              <a:spcAft>
                <a:spcPts val="800"/>
              </a:spcAft>
            </a:pP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3200">
              <a:lnSpc>
                <a:spcPct val="107000"/>
              </a:lnSpc>
              <a:spcAft>
                <a:spcPts val="800"/>
              </a:spcAft>
            </a:pPr>
            <a:r>
              <a:rPr lang="en-ID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743200">
              <a:lnSpc>
                <a:spcPct val="107000"/>
              </a:lnSpc>
              <a:spcAft>
                <a:spcPts val="800"/>
              </a:spcAft>
            </a:pPr>
            <a:r>
              <a:rPr lang="en-ID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95748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C2CD48C5-9E3F-487D-84E5-CF9833226255}"/>
              </a:ext>
            </a:extLst>
          </p:cNvPr>
          <p:cNvSpPr txBox="1"/>
          <p:nvPr/>
        </p:nvSpPr>
        <p:spPr>
          <a:xfrm>
            <a:off x="211896" y="129208"/>
            <a:ext cx="5784850" cy="6599583"/>
          </a:xfrm>
          <a:prstGeom prst="rect">
            <a:avLst/>
          </a:prstGeom>
          <a:solidFill>
            <a:schemeClr val="lt1"/>
          </a:solidFill>
          <a:ln w="28575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KOP SURAT DINAS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(LOGO, NAMA INSTANSI DAN ALAMAT)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SURAT PERNYATAAN IDENTITAS INOVATOR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Nomor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…………………………………………..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Yang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bertanda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tangan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bawah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            :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NIP/NRP*     :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Jabatan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: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 UPP    :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menyatakan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    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0"/>
              </a:spcAft>
            </a:pPr>
            <a:endParaRPr lang="en-ID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0"/>
              </a:spcAft>
            </a:pP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Merupakan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inovator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inovasi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………........………. (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judul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inovasi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pada…………. (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UPP dan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instansi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0"/>
              </a:spcAft>
            </a:pP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Demikian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surat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pernyataan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dibuat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persyaratan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mengikuti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Kompetisi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Inovasi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Pelayanan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Publik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Lingkungan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Kementerian/Lembaga,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Pemerintah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Daerah, BUMN, dan BUMD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Tahun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2025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Berdasarkan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Efisiensi</a:t>
            </a: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Anggaran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0"/>
              </a:spcAft>
            </a:pP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tempat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(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tanggal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bulan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tahun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jabatan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(Nama)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NIP/NRP* :…………………………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3200">
              <a:spcAft>
                <a:spcPts val="800"/>
              </a:spcAft>
            </a:pPr>
            <a:r>
              <a:rPr lang="en-ID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B94B47-3D58-498C-899E-6E74A0DFB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778673"/>
              </p:ext>
            </p:extLst>
          </p:nvPr>
        </p:nvGraphicFramePr>
        <p:xfrm>
          <a:off x="419859" y="3206164"/>
          <a:ext cx="5368925" cy="9406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875">
                  <a:extLst>
                    <a:ext uri="{9D8B030D-6E8A-4147-A177-3AD203B41FA5}">
                      <a16:colId xmlns:a16="http://schemas.microsoft.com/office/drawing/2014/main" val="241047181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262685115"/>
                    </a:ext>
                  </a:extLst>
                </a:gridCol>
                <a:gridCol w="1118235">
                  <a:extLst>
                    <a:ext uri="{9D8B030D-6E8A-4147-A177-3AD203B41FA5}">
                      <a16:colId xmlns:a16="http://schemas.microsoft.com/office/drawing/2014/main" val="220519057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73338383"/>
                    </a:ext>
                  </a:extLst>
                </a:gridCol>
                <a:gridCol w="1618615">
                  <a:extLst>
                    <a:ext uri="{9D8B030D-6E8A-4147-A177-3AD203B41FA5}">
                      <a16:colId xmlns:a16="http://schemas.microsoft.com/office/drawing/2014/main" val="1446365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No.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Nama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 dirty="0">
                          <a:effectLst/>
                        </a:rPr>
                        <a:t>NIP/NRP*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OPP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Kedudukan dalam Tim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5596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1.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 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 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 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 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6913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2.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 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 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 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 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9568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3.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 dirty="0">
                          <a:effectLst/>
                        </a:rPr>
                        <a:t> 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 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 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 dirty="0">
                          <a:effectLst/>
                        </a:rPr>
                        <a:t> 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6991233"/>
                  </a:ext>
                </a:extLst>
              </a:tr>
            </a:tbl>
          </a:graphicData>
        </a:graphic>
      </p:graphicFrame>
      <p:sp>
        <p:nvSpPr>
          <p:cNvPr id="4" name="Text Box 2">
            <a:extLst>
              <a:ext uri="{FF2B5EF4-FFF2-40B4-BE49-F238E27FC236}">
                <a16:creationId xmlns:a16="http://schemas.microsoft.com/office/drawing/2014/main" id="{91638DF7-08F0-4C88-B3B8-5EE87539B68D}"/>
              </a:ext>
            </a:extLst>
          </p:cNvPr>
          <p:cNvSpPr txBox="1"/>
          <p:nvPr/>
        </p:nvSpPr>
        <p:spPr>
          <a:xfrm>
            <a:off x="6298855" y="129208"/>
            <a:ext cx="5473286" cy="6599583"/>
          </a:xfrm>
          <a:prstGeom prst="rect">
            <a:avLst/>
          </a:prstGeom>
          <a:solidFill>
            <a:sysClr val="window" lastClr="FFFFFF"/>
          </a:solidFill>
          <a:ln w="28575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KOP SURAT DINAS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(LOGO, NAMA INSTANSI DAN ALAMAT)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SURAT PERNYATAAN KESEDIAAN REPLIKASI 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Nomor : …………………………………………..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ID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ID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Yang bertanda tangan di bawah ini :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            :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NIP/NRP*     :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Jabatan         :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 UPP    :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0"/>
              </a:spcAft>
            </a:pPr>
            <a:r>
              <a:rPr lang="en-ID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 rangka penyebarluasan inovasi pelayanan publik, dengan ini menyatakan bersedia jika inovasi ........... (judul inovasi) direplikasi dan diterapkan oleh unit kerja dan/atau instansi lain. Pelaksanaan replikasi inovasi ini dilakukan sesuai dengan ketentuan yang berlaku dan kesepakatan kedua belah pihak. 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0"/>
              </a:spcAft>
            </a:pPr>
            <a:r>
              <a:rPr lang="en-ID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Demikian surat pernyataan ini dibuat untuk dipergunakan sebagaimana mestinya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0"/>
              </a:spcAft>
            </a:pPr>
            <a:r>
              <a:rPr lang="en-ID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0"/>
              </a:spcAft>
            </a:pPr>
            <a:r>
              <a:rPr lang="en-ID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(tempat), (tanggal/bulan/tahun)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(jabatan),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(Nama)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0300" algn="just">
              <a:lnSpc>
                <a:spcPct val="150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NIP/NRP* :…………………………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3200">
              <a:lnSpc>
                <a:spcPct val="107000"/>
              </a:lnSpc>
              <a:spcAft>
                <a:spcPts val="800"/>
              </a:spcAft>
            </a:pPr>
            <a:r>
              <a:rPr lang="en-ID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algn="just">
              <a:lnSpc>
                <a:spcPct val="107000"/>
              </a:lnSpc>
              <a:spcAft>
                <a:spcPts val="0"/>
              </a:spcAft>
            </a:pPr>
            <a:r>
              <a:rPr lang="en-US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*) coret yang tidak perlu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292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604267-9C0E-41EC-9BC2-C532E4F0A4D9}"/>
              </a:ext>
            </a:extLst>
          </p:cNvPr>
          <p:cNvSpPr txBox="1"/>
          <p:nvPr/>
        </p:nvSpPr>
        <p:spPr>
          <a:xfrm>
            <a:off x="3417404" y="1411357"/>
            <a:ext cx="5357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err="1">
                <a:ln>
                  <a:solidFill>
                    <a:schemeClr val="accent3"/>
                  </a:solidFill>
                </a:ln>
                <a:solidFill>
                  <a:schemeClr val="tx2"/>
                </a:solidFill>
                <a:latin typeface="Blackadder ITC" panose="04020505051007020D02" pitchFamily="82" charset="0"/>
              </a:rPr>
              <a:t>Terima</a:t>
            </a:r>
            <a:r>
              <a:rPr lang="en-US" sz="8000" dirty="0">
                <a:ln>
                  <a:solidFill>
                    <a:schemeClr val="accent3"/>
                  </a:solidFill>
                </a:ln>
                <a:solidFill>
                  <a:schemeClr val="tx2"/>
                </a:solidFill>
                <a:latin typeface="Blackadder ITC" panose="04020505051007020D02" pitchFamily="82" charset="0"/>
              </a:rPr>
              <a:t> </a:t>
            </a:r>
            <a:r>
              <a:rPr lang="en-US" sz="8000" dirty="0" err="1">
                <a:ln>
                  <a:solidFill>
                    <a:schemeClr val="accent3"/>
                  </a:solidFill>
                </a:ln>
                <a:solidFill>
                  <a:schemeClr val="tx2"/>
                </a:solidFill>
                <a:latin typeface="Blackadder ITC" panose="04020505051007020D02" pitchFamily="82" charset="0"/>
              </a:rPr>
              <a:t>kasih</a:t>
            </a:r>
            <a:endParaRPr lang="en-ID" sz="8000" dirty="0">
              <a:ln>
                <a:solidFill>
                  <a:schemeClr val="accent3"/>
                </a:solidFill>
              </a:ln>
              <a:solidFill>
                <a:schemeClr val="tx2"/>
              </a:solidFill>
              <a:latin typeface="Blackadder ITC" panose="04020505051007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99467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129</TotalTime>
  <Words>1174</Words>
  <Application>Microsoft Office PowerPoint</Application>
  <PresentationFormat>Widescreen</PresentationFormat>
  <Paragraphs>284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Bahnschrift Light</vt:lpstr>
      <vt:lpstr>Bahnschrift SemiBold</vt:lpstr>
      <vt:lpstr>Blackadder ITC</vt:lpstr>
      <vt:lpstr>Calibri</vt:lpstr>
      <vt:lpstr>Gill Sans MT</vt:lpstr>
      <vt:lpstr>Tahoma</vt:lpstr>
      <vt:lpstr>Times New Roman</vt:lpstr>
      <vt:lpstr>Gallery</vt:lpstr>
      <vt:lpstr>PENYUSUNAN PROPOSAL</vt:lpstr>
      <vt:lpstr>TEMA SiNOBLIK</vt:lpstr>
      <vt:lpstr>kriteria</vt:lpstr>
      <vt:lpstr>kategori</vt:lpstr>
      <vt:lpstr>partisipan</vt:lpstr>
      <vt:lpstr>PERSYARATAN</vt:lpstr>
      <vt:lpstr>PROPOSAL SINOBLIK BANJARNEGARA</vt:lpstr>
      <vt:lpstr>PROFILE INOVASI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PENYUSUNAN PROPOSAL</dc:title>
  <dc:creator>TITI CAHYANINGSIH</dc:creator>
  <cp:lastModifiedBy>TITI CAHYANINGSIH</cp:lastModifiedBy>
  <cp:revision>24</cp:revision>
  <dcterms:created xsi:type="dcterms:W3CDTF">2026-05-23T22:17:54Z</dcterms:created>
  <dcterms:modified xsi:type="dcterms:W3CDTF">2026-05-25T01:27:56Z</dcterms:modified>
</cp:coreProperties>
</file>